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38BDF8"/>
                </a:solidFill>
                <a:latin typeface="Trebuchet MS"/>
              </a:defRPr>
            </a:pPr>
            <a:r>
              <a:t>AI ASSET</a:t>
            </a:r>
          </a:p>
          <a:p>
            <a:pPr>
              <a:spcBef>
                <a:spcPts val="800"/>
              </a:spcBef>
              <a:defRPr sz="2600" b="1">
                <a:solidFill>
                  <a:srgbClr val="FFFFFF"/>
                </a:solidFill>
                <a:latin typeface="Arial"/>
              </a:defRPr>
            </a:pPr>
            <a:r>
              <a:t>AI-Assisted Strategic Enterprise Knowledge Tracking</a:t>
            </a:r>
          </a:p>
          <a:p>
            <a:pPr>
              <a:spcBef>
                <a:spcPts val="3600"/>
              </a:spcBef>
              <a:defRPr sz="1600">
                <a:solidFill>
                  <a:srgbClr val="64748B"/>
                </a:solidFill>
                <a:latin typeface="Arial"/>
              </a:defRPr>
            </a:pPr>
            <a:r>
              <a:t>The Intelligent Organizational Memory Engine</a:t>
            </a:r>
          </a:p>
          <a:p>
            <a:pPr>
              <a:spcBef>
                <a:spcPts val="8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Powered by LangGraph Agents, Neo4j Graph DB &amp; Pinecone Vector 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01 / PROBLEM STATEMENT</a:t>
            </a:r>
          </a:p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The Organizational Knowledge Drain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1E293B"/>
                </a:solidFill>
                <a:latin typeface="Arial"/>
              </a:defRPr>
            </a:pPr>
            <a:r>
              <a:t>Organizations lose critical institutional memory when employees leave or transfer projects. Crucial historical context behind why strategic decisions were made remains scattered across siloed enterprise channels: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Knowledge Silos: Decisions are buried in individual emails, chat histories, or untracked meeting conversations.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Loss of Intent: Current databases store outcomes (e.g., 'Vendor X was chosen'), but completely omit the context (competing options, key considerations, and dissents).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Inefficient Operations: Teams waste endless hours looking for past assets, onboarding slow-starts, and repeating historical mistakes.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645920"/>
            <a:ext cx="2468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46520" y="17830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Attrition Drain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Knowledge leaves with the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0" y="1645920"/>
            <a:ext cx="2468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89720" y="17830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Siloed Conversations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Chats &amp; emails are inaccessible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3931920"/>
            <a:ext cx="2468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40690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No Traceability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Missing 'Why' behind decisions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0" y="3931920"/>
            <a:ext cx="2468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89720" y="40690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Wasted Velocity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Onboarding &amp; search lag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02 / SOLUTION OVERVIEW</a:t>
            </a:r>
          </a:p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AI ASSET: Your Organization's Memory Bank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1E293B"/>
                </a:solidFill>
                <a:latin typeface="Arial"/>
              </a:defRPr>
            </a:pPr>
            <a:r>
              <a:t>AI ASSET captures and consolidates fragmented information into a unified, queryable intelligence platform. By combining Vector Databases, Knowledge Graphs, and Language Agents, it preserves both facts and relational contexts.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Semantic Search: Leverages natural language queries to search conceptual intent rather than exact keyword matching.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Relational Map: Traces connections between people, projects, timelines, meeting actions, and external tickets.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Traceability: Generates an automatic timeline of historical project decisions complete with participant opinions and risks.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645920"/>
            <a:ext cx="16459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164592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46520" y="1920240"/>
            <a:ext cx="137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Unified Ingest</a:t>
            </a:r>
          </a:p>
          <a:p>
            <a:pPr>
              <a:lnSpc>
                <a:spcPct val="12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Ingests chats, meetings, emails, and tickets dynamically.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2440" y="1645920"/>
            <a:ext cx="16459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92440" y="1645920"/>
            <a:ext cx="164592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137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Graph + RAG</a:t>
            </a:r>
          </a:p>
          <a:p>
            <a:pPr>
              <a:lnSpc>
                <a:spcPct val="12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Neo4j maps structural relationships while Pinecone indexes semantic chunks.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0" y="1645920"/>
            <a:ext cx="16459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75520" y="1645920"/>
            <a:ext cx="164592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12680" y="1920240"/>
            <a:ext cx="137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Agentic Answers</a:t>
            </a:r>
          </a:p>
          <a:p>
            <a:pPr>
              <a:lnSpc>
                <a:spcPct val="12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A 5-agent pipeline plans, searches, reconstructs, and summarizes.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03 / SYSTEM ARCHITECTURE</a:t>
            </a:r>
          </a:p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Data Flow &amp; Processing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920240" cy="402336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" cy="4023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" y="1828800"/>
            <a:ext cx="1691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1. Enterprise Sources</a:t>
            </a:r>
          </a:p>
          <a:p>
            <a:pPr>
              <a:lnSpc>
                <a:spcPct val="130000"/>
              </a:lnSpc>
              <a:defRPr sz="1200">
                <a:solidFill>
                  <a:srgbClr val="FFFFFF"/>
                </a:solidFill>
                <a:latin typeface="Arial"/>
              </a:defRPr>
            </a:pPr>
            <a:r>
              <a:t>Email, Jira, Meetings, Teams, Confluence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52928" y="3474720"/>
            <a:ext cx="146304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17520" y="1645920"/>
            <a:ext cx="1920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17520" y="1645920"/>
            <a:ext cx="73152" cy="4023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82112" y="1828800"/>
            <a:ext cx="1691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E293B"/>
                </a:solidFill>
                <a:latin typeface="Trebuchet MS"/>
              </a:defRPr>
            </a:pPr>
            <a:r>
              <a:t>2. Gateway &amp; Ingest</a:t>
            </a:r>
          </a:p>
          <a:p>
            <a:pPr>
              <a:lnSpc>
                <a:spcPct val="130000"/>
              </a:lnSpc>
              <a:defRPr sz="1200">
                <a:solidFill>
                  <a:srgbClr val="64748B"/>
                </a:solidFill>
                <a:latin typeface="Arial"/>
              </a:defRPr>
            </a:pPr>
            <a:r>
              <a:t>FastAPI Ingestion / Async Parsers / Redis Cache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56048" y="3474720"/>
            <a:ext cx="146304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120640" y="1645920"/>
            <a:ext cx="1920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120640" y="1645920"/>
            <a:ext cx="73152" cy="4023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85232" y="1828800"/>
            <a:ext cx="1691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E293B"/>
                </a:solidFill>
                <a:latin typeface="Trebuchet MS"/>
              </a:defRPr>
            </a:pPr>
            <a:r>
              <a:t>3. Embedding Pipeline</a:t>
            </a:r>
          </a:p>
          <a:p>
            <a:pPr>
              <a:lnSpc>
                <a:spcPct val="130000"/>
              </a:lnSpc>
              <a:defRPr sz="1200">
                <a:solidFill>
                  <a:srgbClr val="64748B"/>
                </a:solidFill>
                <a:latin typeface="Arial"/>
              </a:defRPr>
            </a:pPr>
            <a:r>
              <a:t>Chunking / OpenAI Large model / Fallbacks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59168" y="3474720"/>
            <a:ext cx="146304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23759" y="1645920"/>
            <a:ext cx="1920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23759" y="1645920"/>
            <a:ext cx="73152" cy="4023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88351" y="1828800"/>
            <a:ext cx="1691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E293B"/>
                </a:solidFill>
                <a:latin typeface="Trebuchet MS"/>
              </a:defRPr>
            </a:pPr>
            <a:r>
              <a:t>4. Dual-Store DBs</a:t>
            </a:r>
          </a:p>
          <a:p>
            <a:pPr>
              <a:lnSpc>
                <a:spcPct val="130000"/>
              </a:lnSpc>
              <a:defRPr sz="1200">
                <a:solidFill>
                  <a:srgbClr val="64748B"/>
                </a:solidFill>
                <a:latin typeface="Arial"/>
              </a:defRPr>
            </a:pPr>
            <a:r>
              <a:t>Pinecone Vector DB + Neo4j Entity Relationship Graph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162287" y="3474720"/>
            <a:ext cx="146304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26880" y="1645920"/>
            <a:ext cx="1920240" cy="402336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26880" y="1645920"/>
            <a:ext cx="73152" cy="4023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91472" y="1828800"/>
            <a:ext cx="1691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5. Agentic AI API</a:t>
            </a:r>
          </a:p>
          <a:p>
            <a:pPr>
              <a:lnSpc>
                <a:spcPct val="130000"/>
              </a:lnSpc>
              <a:defRPr sz="1200">
                <a:solidFill>
                  <a:srgbClr val="FFFFFF"/>
                </a:solidFill>
                <a:latin typeface="Arial"/>
              </a:defRPr>
            </a:pPr>
            <a:r>
              <a:t>5-Agent LangGraph Pipeline / Gateway / Streamlit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04 / LANGGRAPH MULTI-AGENT ENGINE</a:t>
            </a:r>
          </a:p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Collaboration of Specialized AI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94767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51560" y="1828800"/>
            <a:ext cx="1673352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6733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Trebuchet MS"/>
              </a:defRPr>
            </a:pPr>
            <a:r>
              <a:t>Agent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423160"/>
            <a:ext cx="1673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Planner Agent</a:t>
            </a:r>
          </a:p>
          <a:p>
            <a:pPr>
              <a:lnSpc>
                <a:spcPct val="130000"/>
              </a:lnSpc>
              <a:defRPr sz="1200">
                <a:solidFill>
                  <a:srgbClr val="64748B"/>
                </a:solidFill>
                <a:latin typeface="Arial"/>
              </a:defRPr>
            </a:pPr>
            <a:r>
              <a:t>Deconstructs the user's question into 2-4 target search sub-tasks.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80360" y="3657600"/>
            <a:ext cx="128016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17520" y="1645920"/>
            <a:ext cx="194767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154680" y="1828800"/>
            <a:ext cx="1673352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4680" y="1828800"/>
            <a:ext cx="16733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Trebuchet MS"/>
              </a:defRPr>
            </a:pPr>
            <a:r>
              <a:t>Agent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423160"/>
            <a:ext cx="1673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Search Agent</a:t>
            </a:r>
          </a:p>
          <a:p>
            <a:pPr>
              <a:lnSpc>
                <a:spcPct val="130000"/>
              </a:lnSpc>
              <a:defRPr sz="1200">
                <a:solidFill>
                  <a:srgbClr val="64748B"/>
                </a:solidFill>
                <a:latin typeface="Arial"/>
              </a:defRPr>
            </a:pPr>
            <a:r>
              <a:t>Semantic queries against Pinecone DB to retrieve contextual document chunks.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83480" y="3657600"/>
            <a:ext cx="128016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20640" y="1645920"/>
            <a:ext cx="194767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257800" y="1828800"/>
            <a:ext cx="1673352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57800" y="1828800"/>
            <a:ext cx="16733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Trebuchet MS"/>
              </a:defRPr>
            </a:pPr>
            <a:r>
              <a:t>Agent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423160"/>
            <a:ext cx="1673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Timeline Agent</a:t>
            </a:r>
          </a:p>
          <a:p>
            <a:pPr>
              <a:lnSpc>
                <a:spcPct val="130000"/>
              </a:lnSpc>
              <a:defRPr sz="1200">
                <a:solidFill>
                  <a:srgbClr val="64748B"/>
                </a:solidFill>
                <a:latin typeface="Arial"/>
              </a:defRPr>
            </a:pPr>
            <a:r>
              <a:t>Compiles historical documents chronologically to capture the decision progress.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86600" y="3657600"/>
            <a:ext cx="128016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223759" y="1645920"/>
            <a:ext cx="194767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60919" y="1828800"/>
            <a:ext cx="1673352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60919" y="1828800"/>
            <a:ext cx="16733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Trebuchet MS"/>
              </a:defRPr>
            </a:pPr>
            <a:r>
              <a:t>Agent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19" y="2423160"/>
            <a:ext cx="1673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Decision Agent</a:t>
            </a:r>
          </a:p>
          <a:p>
            <a:pPr>
              <a:lnSpc>
                <a:spcPct val="130000"/>
              </a:lnSpc>
              <a:defRPr sz="1200">
                <a:solidFill>
                  <a:srgbClr val="64748B"/>
                </a:solidFill>
                <a:latin typeface="Arial"/>
              </a:defRPr>
            </a:pPr>
            <a:r>
              <a:t>Analyzes documents for outcomes, dissents, agreements, and details.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189719" y="3657600"/>
            <a:ext cx="128016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326880" y="1645920"/>
            <a:ext cx="194767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464040" y="1828800"/>
            <a:ext cx="1673352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64040" y="1828800"/>
            <a:ext cx="16733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Trebuchet MS"/>
              </a:defRPr>
            </a:pPr>
            <a:r>
              <a:t>Agent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2423160"/>
            <a:ext cx="1673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Trebuchet MS"/>
              </a:defRPr>
            </a:pPr>
            <a:r>
              <a:t>Answer Agent</a:t>
            </a:r>
          </a:p>
          <a:p>
            <a:pPr>
              <a:lnSpc>
                <a:spcPct val="130000"/>
              </a:lnSpc>
              <a:defRPr sz="1200">
                <a:solidFill>
                  <a:srgbClr val="64748B"/>
                </a:solidFill>
                <a:latin typeface="Arial"/>
              </a:defRPr>
            </a:pPr>
            <a:r>
              <a:t>Synthesizes agent insights into a structured final response with citations.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05 / RAG + KNOWLEDGE GRAPH</a:t>
            </a:r>
          </a:p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Combining Semantic Search with Structural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4937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1920240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Pinecone Vector Store (Semantic)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Stores high-dimensional document chunks (1024-dim text-embedding-3-large).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Performs semantic searches to retrieve contextual meaning.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Metadata filtering limits results by specific projects, dates, and users.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Fallback embeddings model handles system outages gracefully without blocking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4937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0" y="1920240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Neo4j Graph DB (Structural Relationships)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Maintains structural relationships between People, Meetings, Decisions, Tickets, and Projects.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Allows deep relational queries (e.g. 'Who attended the meeting where Decision X was produced?').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Validates constraints (uniqueness of IDs) during async ingestion updates.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Connects disparate communications (emails and tickets) into one graph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06 / ENTERPRISE INTEGRATIONS</a:t>
            </a:r>
          </a:p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Model Context Protocol (MCP)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1E293B"/>
                </a:solidFill>
                <a:latin typeface="Arial"/>
              </a:defRPr>
            </a:pPr>
            <a:r>
              <a:t>The Model Context Protocol (MCP) provides a standard integration layer for AI models to query external enterprise systems securely in real-time.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Dynamic Tool Access: Agent pipeline calls live tool methods (FastMCP) instead of querying databases directly.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Jira MCP Server: Queries active ticket status and transition history during planning agent evaluation.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Secure Isolation: Keeps credential management isolated inside specific microservices.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645920"/>
            <a:ext cx="2468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73152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46520" y="17830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Jira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Tracks ticket status, assignees, and history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1645920"/>
            <a:ext cx="2468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052560" y="1645920"/>
            <a:ext cx="73152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89720" y="17830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Confluence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Ingests static wiki and architecture 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931920"/>
            <a:ext cx="2468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3931920"/>
            <a:ext cx="73152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40690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Teams &amp; Outlook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Connects meeting summaries and email trails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3931920"/>
            <a:ext cx="2468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052560" y="3931920"/>
            <a:ext cx="73152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89720" y="40690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Slack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Extracts real-time project channel chats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07 / TECHNOLOGY STACK</a:t>
            </a:r>
          </a:p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High-Performance Modular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9377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F172A"/>
                </a:solidFill>
                <a:latin typeface="Trebuchet MS"/>
              </a:defRPr>
            </a:pPr>
            <a:r>
              <a:t>Agents &amp; LLMs</a:t>
            </a:r>
          </a:p>
          <a:p>
            <a:pPr>
              <a:lnSpc>
                <a:spcPct val="13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LangGraph 0.1.5, LangChain 0.2, Llama-3.3 (via Groq), GPT-4o-mini (OpenAI), Fallback Local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4937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09360" y="1645920"/>
            <a:ext cx="49377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F172A"/>
                </a:solidFill>
                <a:latin typeface="Trebuchet MS"/>
              </a:defRPr>
            </a:pPr>
            <a:r>
              <a:t>Databases</a:t>
            </a:r>
          </a:p>
          <a:p>
            <a:pPr>
              <a:lnSpc>
                <a:spcPct val="13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Pinecone (Vector DB), Neo4j 5.15 (Graph DB), Redis 7 (Rate Limits &amp; Job Cache), SQLite (MCP DB)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3931920"/>
            <a:ext cx="49377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411480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F172A"/>
                </a:solidFill>
                <a:latin typeface="Trebuchet MS"/>
              </a:defRPr>
            </a:pPr>
            <a:r>
              <a:t>Core API Gateway</a:t>
            </a:r>
          </a:p>
          <a:p>
            <a:pPr>
              <a:lnSpc>
                <a:spcPct val="13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Python 3.11, FastAPI (Async Framework), Scalar API (OpenAPI Docs), Docker / Docker Compose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931920"/>
            <a:ext cx="4937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3931920"/>
            <a:ext cx="49377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411480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F172A"/>
                </a:solidFill>
                <a:latin typeface="Trebuchet MS"/>
              </a:defRPr>
            </a:pPr>
            <a:r>
              <a:t>Frontend &amp; Tooling</a:t>
            </a:r>
          </a:p>
          <a:p>
            <a:pPr>
              <a:lnSpc>
                <a:spcPct val="13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Streamlit UI, FastMCP (Model Context), Httpx (Async HTTP Client), WatchFiles (Hot reload)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08 / WORKFLOW &amp; DEMO FLOW</a:t>
            </a:r>
          </a:p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Execution Blueprint (Step-by-Step)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2377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" y="173736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737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Trebuchet M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Step 1: Raw Ingest</a:t>
            </a:r>
          </a:p>
          <a:p>
            <a:pPr>
              <a:lnSpc>
                <a:spcPct val="13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Ingest synthetic project data (emails, jira, meeting files).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28416" y="3383280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538728" y="2011680"/>
            <a:ext cx="2377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75888" y="173736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75888" y="1737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Trebuchet M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8" y="246888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Step 2: Preflight</a:t>
            </a:r>
          </a:p>
          <a:p>
            <a:pPr>
              <a:lnSpc>
                <a:spcPct val="13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Run credentials health verify for OpenAI &amp; Pinecone index.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52744" y="3383280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63056" y="2011680"/>
            <a:ext cx="2377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300216" y="173736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0216" y="1737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Trebuchet M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46888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Step 3: Ask Question</a:t>
            </a:r>
          </a:p>
          <a:p>
            <a:pPr>
              <a:lnSpc>
                <a:spcPct val="13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User queries 'Why did we choose JWT over OAuth?'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577072" y="3383280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787383" y="2011680"/>
            <a:ext cx="2377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924543" y="173736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24543" y="1737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Trebuchet M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4543" y="246888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Step 4: Output Engine</a:t>
            </a:r>
          </a:p>
          <a:p>
            <a:pPr>
              <a:lnSpc>
                <a:spcPct val="130000"/>
              </a:lnSpc>
              <a:defRPr sz="1300">
                <a:solidFill>
                  <a:srgbClr val="64748B"/>
                </a:solidFill>
                <a:latin typeface="Arial"/>
              </a:defRPr>
            </a:pPr>
            <a:r>
              <a:t>Generates answers, timeline events, citations, and confidence.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09 / VISION &amp; IMPACT</a:t>
            </a:r>
          </a:p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Roadmap &amp; Enterprise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4937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9377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Future Product Roadmap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Dynamic Slack &amp; MS Teams webhook ingestion listeners.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Secure User authentication (JWT/OAuth2) at Gateway level.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Real-time LangGraph query execution via WebSockets.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Support for local high-performance offline LLMs.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4937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09360" y="1645920"/>
            <a:ext cx="49377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Business &amp; Operational Impact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Retains 100% organizational context during employee attrition.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Reduces search and research friction time by up to 80%.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Streamlines engineering alignment and historical traceability.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• Speeds up onboarding of new personnel via context extraction.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2DF35B9-E72C-4307-B695-4066FFDB4317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085c7c5e-088c-4e13-a234-2a2a88cfc13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976</Words>
  <Application>Microsoft Office PowerPoint</Application>
  <PresentationFormat>Custom</PresentationFormat>
  <Paragraphs>121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Pratik Thakur</cp:lastModifiedBy>
  <cp:revision>2</cp:revision>
  <dcterms:created xsi:type="dcterms:W3CDTF">2013-01-27T09:14:16Z</dcterms:created>
  <dcterms:modified xsi:type="dcterms:W3CDTF">2026-07-23T19:04:24Z</dcterms:modified>
  <cp:category/>
</cp:coreProperties>
</file>